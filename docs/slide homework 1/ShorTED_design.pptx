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Noto Serif" panose="02020600060500020200" pitchFamily="18" charset="0"/>
      <p:regular r:id="rId9"/>
      <p:bold r:id="rId10"/>
    </p:embeddedFont>
    <p:embeddedFont>
      <p:font typeface="Noto Serif Medium" panose="020B0604020202020204" charset="0"/>
      <p:regular r:id="rId11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22668CF8-C0F7-4BD0-AC2E-E8A4CAFB6E0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65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biotomasoni/cloud_mobile_2026_ShorTE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trello.com/b/jYELzvvY/piattaforme-cloud-e-applicazioni-mobili-short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3317" y="412595"/>
            <a:ext cx="13223293" cy="1393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0" b="1" dirty="0" err="1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ShorTED</a:t>
            </a:r>
            <a:endParaRPr lang="en-US" sz="6000" b="1" dirty="0">
              <a:solidFill>
                <a:srgbClr val="3A3A3A"/>
              </a:solidFill>
              <a:latin typeface="Noto Serif Medium" pitchFamily="34" charset="0"/>
              <a:ea typeface="Noto Serif Medium" pitchFamily="34" charset="-122"/>
              <a:cs typeface="Noto Serif Medium" pitchFamily="34" charset="-120"/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Snackable TEDx Content</a:t>
            </a:r>
            <a:endParaRPr lang="en-US" sz="3600" b="1" dirty="0"/>
          </a:p>
        </p:txBody>
      </p:sp>
      <p:sp>
        <p:nvSpPr>
          <p:cNvPr id="4" name="Text 1"/>
          <p:cNvSpPr/>
          <p:nvPr/>
        </p:nvSpPr>
        <p:spPr>
          <a:xfrm>
            <a:off x="6280190" y="2765108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L'ispirazione in meno di 60 secondi.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506170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Le persone amano i TED Talks, ma raramente hanno 18 minuti da </a:t>
            </a:r>
            <a:r>
              <a:rPr lang="en-US" sz="1750" dirty="0" err="1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dedicare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ShorTED trasforma i talk originali in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snackable content (video e citazioni)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generate automaticamente dall'Intelligenza Artificiale con il succo di ogni discorso, personalizzato per l'utente.</a:t>
            </a:r>
            <a:endParaRPr lang="en-US" sz="1750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390869B0-40BF-C61D-DAD5-3F846AE0C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6960" y="7703023"/>
            <a:ext cx="1724266" cy="428685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E029E2AD-FAFD-A55D-2715-2971C12C9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02768" y="2694596"/>
            <a:ext cx="9375170" cy="4053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9290"/>
            <a:ext cx="74393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Chi Usa il Servizio e Perché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99521" y="2265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Utenti Primari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284618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Studenti e giovani professionisti che cercano ispirazione rapida, e i "Curiosi Digitali" abituati allo scrolling ma affamati di contenuti di qualità.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1617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Utenti Secondari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47428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Organizzatori TEDx che vogliono raggiungere la Gen Z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5332571"/>
            <a:ext cx="28830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Obiettivi del Servizio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5913715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Aumentare l'accessibilità dei contenuti TEDx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Ricerca smart per emozioni e concetti chiave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Motivazione e ispirazione personale</a:t>
            </a:r>
            <a:endParaRPr lang="en-US" sz="175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FD41C3A-1F34-25B2-0AF8-F16A0099C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3609" y="7754628"/>
            <a:ext cx="1724266" cy="428685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DFF57E6B-C9F5-A9E6-32C0-936978171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91272"/>
            <a:ext cx="7888950" cy="52490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" y="538877"/>
            <a:ext cx="1459694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3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Architettura Serverless &amp; Tecnologie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446014" y="7452479"/>
            <a:ext cx="117382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3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1355797F-3394-3178-54C6-5FF877FC9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067" y="3900457"/>
            <a:ext cx="1724266" cy="428685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4F303E0A-74BD-F8F5-5090-7334C6047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2680" y="7690604"/>
            <a:ext cx="1724266" cy="42868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C6D5F87-B57C-6E58-C12D-F6872239E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772" y="1157370"/>
            <a:ext cx="10646856" cy="6880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4214" y="566976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Release Plan Agile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94214" y="1309092"/>
            <a:ext cx="792837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Tre sprint progressivi per portare il prodotto dal dataset all'app nelle mani degli utenti.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94214" y="1703903"/>
            <a:ext cx="7928372" cy="1897618"/>
          </a:xfrm>
          <a:prstGeom prst="roundRect">
            <a:avLst>
              <a:gd name="adj" fmla="val 384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6117074" y="1726763"/>
            <a:ext cx="694611" cy="1851898"/>
          </a:xfrm>
          <a:prstGeom prst="roundRect">
            <a:avLst>
              <a:gd name="adj" fmla="val 6551"/>
            </a:avLst>
          </a:prstGeom>
          <a:solidFill>
            <a:srgbClr val="E6DED2">
              <a:alpha val="50000"/>
            </a:srgbClr>
          </a:solidFill>
          <a:ln/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330315" y="2489954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6944558" y="190035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MVP 1 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44558" y="2251353"/>
            <a:ext cx="688157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Pipeline Data 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44558" y="2576393"/>
            <a:ext cx="688157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Lambda Function </a:t>
            </a: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  <a:sym typeface="Wingdings" panose="05000000000000000000" pitchFamily="2" charset="2"/>
              </a:rPr>
              <a:t></a:t>
            </a: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Scraping Trascrizione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Setup Amazon S3 </a:t>
            </a: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  <a:sym typeface="Wingdings" panose="05000000000000000000" pitchFamily="2" charset="2"/>
              </a:rPr>
              <a:t></a:t>
            </a: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Dati Grezzi e Processati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Configurazione AWS Glue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94214" y="3734395"/>
            <a:ext cx="7928372" cy="1897618"/>
          </a:xfrm>
          <a:prstGeom prst="roundRect">
            <a:avLst>
              <a:gd name="adj" fmla="val 384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6117074" y="3757255"/>
            <a:ext cx="694611" cy="1851898"/>
          </a:xfrm>
          <a:prstGeom prst="roundRect">
            <a:avLst>
              <a:gd name="adj" fmla="val 6551"/>
            </a:avLst>
          </a:prstGeom>
          <a:solidFill>
            <a:srgbClr val="E6DED2">
              <a:alpha val="50000"/>
            </a:srgbClr>
          </a:solidFill>
          <a:ln/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330315" y="4520446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6944558" y="393084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MVP 2 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944558" y="4281845"/>
            <a:ext cx="688157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Pipeline AI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44558" y="4606885"/>
            <a:ext cx="688157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Lambda Dispatcher e SQS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Lambda Orchestrator, AWS Bedrock e Multi Model Pipeline </a:t>
            </a:r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Setup MongoDB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94214" y="5764887"/>
            <a:ext cx="7928372" cy="1897618"/>
          </a:xfrm>
          <a:prstGeom prst="roundRect">
            <a:avLst>
              <a:gd name="adj" fmla="val 3844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6117074" y="5787747"/>
            <a:ext cx="694611" cy="1851898"/>
          </a:xfrm>
          <a:prstGeom prst="roundRect">
            <a:avLst>
              <a:gd name="adj" fmla="val 6551"/>
            </a:avLst>
          </a:prstGeom>
          <a:solidFill>
            <a:srgbClr val="E6DED2">
              <a:alpha val="50000"/>
            </a:srgbClr>
          </a:solidFill>
          <a:ln/>
          <a:effectLst>
            <a:outerShdw dist="2286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6330315" y="6550938"/>
            <a:ext cx="26039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050" dirty="0"/>
          </a:p>
        </p:txBody>
      </p:sp>
      <p:sp>
        <p:nvSpPr>
          <p:cNvPr id="20" name="Text 17"/>
          <p:cNvSpPr/>
          <p:nvPr/>
        </p:nvSpPr>
        <p:spPr>
          <a:xfrm>
            <a:off x="6944558" y="5961340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MVP 3 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944558" y="6312337"/>
            <a:ext cx="688157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 &amp; API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944558" y="6637377"/>
            <a:ext cx="688157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Lambda API e API Gateway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Setup Cognito per Login &amp; </a:t>
            </a:r>
            <a:r>
              <a:rPr lang="en-US" sz="1350" dirty="0" err="1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Sessione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Applicazione Flutter</a:t>
            </a:r>
            <a:endParaRPr lang="en-US" sz="1350" dirty="0"/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602B4400-F36E-7993-7ADB-B04C017EE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9262" y="7781270"/>
            <a:ext cx="1724266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600789"/>
            <a:ext cx="5781080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Criticità e Sviluppi Futuri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34628" y="1576507"/>
            <a:ext cx="2347912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⚠️</a:t>
            </a:r>
            <a:r>
              <a:rPr lang="en-US" sz="1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Punti Critici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34628" y="2060138"/>
            <a:ext cx="6251377" cy="1419582"/>
          </a:xfrm>
          <a:prstGeom prst="roundRect">
            <a:avLst>
              <a:gd name="adj" fmla="val 7730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41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11768" y="2060138"/>
            <a:ext cx="91440" cy="1419582"/>
          </a:xfrm>
          <a:prstGeom prst="roundRect">
            <a:avLst>
              <a:gd name="adj" fmla="val 8627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113830" y="227076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Latenza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3830" y="2719745"/>
            <a:ext cx="576155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La generazione dei riassunti richiede </a:t>
            </a:r>
            <a:r>
              <a:rPr lang="en-US" sz="14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tempo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b="1" dirty="0" err="1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Soluzione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: dati pre-processati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34628" y="3635216"/>
            <a:ext cx="6251377" cy="1968937"/>
          </a:xfrm>
          <a:prstGeom prst="roundRect">
            <a:avLst>
              <a:gd name="adj" fmla="val 5573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41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811768" y="3635216"/>
            <a:ext cx="91440" cy="1968937"/>
          </a:xfrm>
          <a:prstGeom prst="roundRect">
            <a:avLst>
              <a:gd name="adj" fmla="val 8627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113830" y="3845838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Costi Cloud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3830" y="4294823"/>
            <a:ext cx="5761553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Il processing </a:t>
            </a:r>
            <a:r>
              <a:rPr lang="en-US" sz="14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 larga scala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può impennare i costi API. Necessario monitoraggio continuo.</a:t>
            </a:r>
            <a:endParaRPr lang="en-US" sz="14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Soluzione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: Per un progetto accademico i costi sono minimi (attenzione alla scalabilità)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34628" y="5759648"/>
            <a:ext cx="6251377" cy="1694259"/>
          </a:xfrm>
          <a:prstGeom prst="roundRect">
            <a:avLst>
              <a:gd name="adj" fmla="val 6476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4130" dir="2700000" algn="bl" rotWithShape="0">
              <a:srgbClr val="E6DED2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811768" y="5759648"/>
            <a:ext cx="91440" cy="1694259"/>
          </a:xfrm>
          <a:prstGeom prst="roundRect">
            <a:avLst>
              <a:gd name="adj" fmla="val 86279"/>
            </a:avLst>
          </a:prstGeom>
          <a:solidFill>
            <a:srgbClr val="E6DED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113830" y="597027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Copyright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3830" y="6419255"/>
            <a:ext cx="5761553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Gestione attenta delle </a:t>
            </a:r>
            <a:r>
              <a:rPr lang="en-US" sz="14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licenze 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TEDx per la manipolazione e redistribuzione dei contenuti originali.</a:t>
            </a:r>
            <a:endParaRPr lang="en-US" sz="145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Soluzione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: citare le fonti &amp; redirect ai video originali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51777" y="1576507"/>
            <a:ext cx="2347912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🚀</a:t>
            </a:r>
            <a:r>
              <a:rPr lang="en-US" sz="18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Sviluppi Futuri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551777" y="2060138"/>
            <a:ext cx="3047881" cy="1938457"/>
          </a:xfrm>
          <a:prstGeom prst="roundRect">
            <a:avLst>
              <a:gd name="adj" fmla="val 407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41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747159" y="225552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Feed Algoritmico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47159" y="2704505"/>
            <a:ext cx="2657118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 feed iper-personalizzato in stile TikTok, basato su emozioni e interessi dell'utente.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0755154" y="2060138"/>
            <a:ext cx="3048000" cy="1938457"/>
          </a:xfrm>
          <a:prstGeom prst="roundRect">
            <a:avLst>
              <a:gd name="adj" fmla="val 407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4130" dir="2700000" algn="bl" rotWithShape="0">
              <a:srgbClr val="CCC4B8">
                <a:alpha val="10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950535" y="2255520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Feature Social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50535" y="2704505"/>
            <a:ext cx="2657237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Condivisione delle pillole video, commenti e community attorno ai talk preferiti.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551777" y="4173498"/>
            <a:ext cx="6251377" cy="985480"/>
          </a:xfrm>
          <a:prstGeom prst="roundRect">
            <a:avLst>
              <a:gd name="adj" fmla="val 800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539" y="4449604"/>
            <a:ext cx="234791" cy="18776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162092" y="4375904"/>
            <a:ext cx="5453301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Il progetto è scalabile: ogni MVP aggiunge valore incrementale senza bloccare il rilascio precedente.</a:t>
            </a:r>
            <a:endParaRPr lang="en-US" sz="1450"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83CED138-09BB-1D97-DAE7-38FA6B1EE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3606" y="7673491"/>
            <a:ext cx="2236794" cy="556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5979"/>
            <a:ext cx="64454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Grazie per l'attenzione!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83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Link GitHub: </a:t>
            </a:r>
            <a:r>
              <a:rPr lang="en-US" sz="1750" u="sng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https://github.com/fabiotomasoni/cloud_mobile_2026_ShorTED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Link Trello: </a:t>
            </a:r>
            <a:r>
              <a:rPr lang="en-US" sz="1750" u="sng" dirty="0">
                <a:solidFill>
                  <a:srgbClr val="3A3A3A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https://trello.com/b/jYELzvvY/piattaforme-cloud-e-applicazioni-mobili-shorted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Simone Gatti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Matricola 1091998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Fabio Giovanni Tomasoni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Matricola 1091999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5060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Piattaforme Cloud e Applicazioni Mobili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- Università degli Studi di Bergamo - a.a. 2025/2026</a:t>
            </a:r>
            <a:endParaRPr lang="en-US" sz="175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878AC90-C09A-69E2-0232-301E2F1BA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5809" y="7680720"/>
            <a:ext cx="1724266" cy="428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395</Words>
  <Application>Microsoft Office PowerPoint</Application>
  <PresentationFormat>Personalizzato</PresentationFormat>
  <Paragraphs>63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0" baseType="lpstr">
      <vt:lpstr>Arial</vt:lpstr>
      <vt:lpstr>Noto Serif Medium</vt:lpstr>
      <vt:lpstr>Noto Serif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Fabio</dc:creator>
  <cp:lastModifiedBy>FABIO GIOVANNI TOMASONI</cp:lastModifiedBy>
  <cp:revision>3</cp:revision>
  <dcterms:created xsi:type="dcterms:W3CDTF">2026-04-24T16:25:50Z</dcterms:created>
  <dcterms:modified xsi:type="dcterms:W3CDTF">2026-05-04T14:44:56Z</dcterms:modified>
</cp:coreProperties>
</file>