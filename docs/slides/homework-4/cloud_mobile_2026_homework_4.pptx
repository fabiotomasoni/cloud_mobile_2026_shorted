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4" r:id="rId4"/>
    <p:sldId id="257" r:id="rId5"/>
    <p:sldId id="258" r:id="rId6"/>
    <p:sldId id="261" r:id="rId7"/>
    <p:sldId id="269" r:id="rId8"/>
    <p:sldId id="268" r:id="rId9"/>
    <p:sldId id="267" r:id="rId10"/>
    <p:sldId id="270" r:id="rId11"/>
    <p:sldId id="265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1AE7EA-BD75-8ECB-6350-B02E8FC1D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1B2F18-E23E-C12A-2520-D6E0B02A0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7BC978-5677-3801-CB92-626EF386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05F260-1BEA-CA8B-A716-328C7947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0FBB0C-FB65-096D-CBE3-AC03800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955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5EB1A2-726B-F5BE-7AEE-DEF7A0A8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973E84-2ABB-B28A-44D3-0B27F40FC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34AE27-099A-B6C8-482D-CEEB1A15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0F36F2-C51F-1061-66E3-A089B805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CE39-E688-0B49-C12C-7BB11880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5814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A90ED9-52EA-2214-0A13-323DCD6D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5BA9B3A-1869-5276-5600-481F16EF1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484FE7-93D7-E7F7-95EE-1C1863E5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EE6DC42-6F0E-1A4C-F149-5064F80E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EEA3FC-0BF4-3F59-D59A-B96F2C82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19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5EB102-CEA8-94FF-A3AD-F6D5A0C8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423553-8460-FED3-EA82-DF3A4DB3F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0526678-E320-B794-032A-C63F1D5E7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3B7FD9-6EBB-1DB7-76EC-29FF27175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EF7744-4455-C5C2-E6DF-8AA4FC13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217D14F-B2B1-95B4-3715-D35107FB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335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927F97-067F-ABA7-0C5E-A258DA81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1E331C-4FE9-C17A-4C15-829472AB0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8B9AD2E-1348-116D-AA76-6AC807856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1DF41-19D0-2E73-4F22-51F10E9A5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5A349F4-7289-A953-59BE-B938A45A4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2E7EF7-0097-3798-4AEC-0ED41DA4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3FB664B-327C-30A0-8D7A-E793BC26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17B20D4-62D5-F259-753A-40D930B1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106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26C1D5-33E9-AFF0-4E0C-5B0709AC6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503BA0-A2E4-5D64-FD05-6A2E457B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A0C16D5-4B61-E247-ED56-4A18042EC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64E0336-037A-04E9-07C8-38C880A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670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BFA9D07-5DF5-D361-B1E4-97079727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BA08BC0-F199-D997-4038-3407EE7A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F5D7C8-686B-4AAB-F115-571D87BF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970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DFEC6B-3469-98FE-B61D-59F30C1FF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D76D6D-B7A7-A359-98D3-BE8F41ACA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B9DFA8A-A21E-1444-77AC-5F4BC21EC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4D5695-25EC-D3AD-075B-C8582E66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B2CBE18-C7A7-5913-B069-A732A34F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4232BEC-30BB-017D-EA8B-50C24B65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252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815983-4798-4890-06B5-D5A02AFF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9E365C5-6DCF-30E6-F190-C7665A579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52DF45B-CE9B-1478-7C73-ACF1763DA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599CAD3-761D-D1FF-16ED-DE366104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9B695F-7876-8FC8-8B92-DDB2856F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F5F6E7E-9C80-3BE4-D76E-07E5A476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400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E4F55D-7FE3-218E-F01E-C6A439A1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145E36-5245-151F-A3B4-26A31659E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4D2D55-AC95-2D6A-CB5C-5BF0AD9A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7D2DB7-88C7-4263-FDEE-00E63C94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EA968C-C9EF-87E1-B20C-8050E922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654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E1C5DE9-5DB0-41FF-509F-BA574FA23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97EC32C-A044-0F67-BF32-F90809534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8F46B7-BDD9-6E16-CA5D-896D48B8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5DAEE-B35F-7B36-9242-E506316E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6151AD-AA38-9082-FC9A-F7FFDE3F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3853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Testo"/>
          <p:cNvSpPr txBox="1">
            <a:spLocks noGrp="1"/>
          </p:cNvSpPr>
          <p:nvPr>
            <p:ph type="title"/>
          </p:nvPr>
        </p:nvSpPr>
        <p:spPr>
          <a:xfrm>
            <a:off x="2301923" y="1122362"/>
            <a:ext cx="7588155" cy="2621155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t>Titolo Testo</a:t>
            </a:r>
          </a:p>
        </p:txBody>
      </p:sp>
      <p:sp>
        <p:nvSpPr>
          <p:cNvPr id="12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2301923" y="3843708"/>
            <a:ext cx="7588155" cy="141409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1800"/>
            </a:lvl1pPr>
            <a:lvl2pPr marL="457200" indent="0" algn="ctr">
              <a:defRPr sz="1800"/>
            </a:lvl2pPr>
            <a:lvl3pPr marL="914400" indent="0" algn="ctr">
              <a:defRPr sz="1800"/>
            </a:lvl3pPr>
            <a:lvl4pPr marL="1371600" indent="0" algn="ctr">
              <a:defRPr sz="1800"/>
            </a:lvl4pPr>
            <a:lvl5pPr marL="1828800" indent="0" algn="ctr">
              <a:defRPr sz="18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141274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 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olo Testo"/>
          <p:cNvSpPr txBox="1">
            <a:spLocks noGrp="1"/>
          </p:cNvSpPr>
          <p:nvPr>
            <p:ph type="title"/>
          </p:nvPr>
        </p:nvSpPr>
        <p:spPr>
          <a:xfrm>
            <a:off x="2301923" y="1122362"/>
            <a:ext cx="7588155" cy="2621155"/>
          </a:xfrm>
          <a:prstGeom prst="rect">
            <a:avLst/>
          </a:prstGeom>
        </p:spPr>
        <p:txBody>
          <a:bodyPr anchor="b"/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t>Titolo Testo</a:t>
            </a:r>
          </a:p>
        </p:txBody>
      </p:sp>
      <p:sp>
        <p:nvSpPr>
          <p:cNvPr id="21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2301923" y="3843708"/>
            <a:ext cx="7588155" cy="141409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1800">
                <a:solidFill>
                  <a:srgbClr val="FFFFFF"/>
                </a:solidFill>
              </a:defRPr>
            </a:lvl1pPr>
            <a:lvl2pPr marL="457200" indent="0" algn="ctr">
              <a:defRPr sz="1800">
                <a:solidFill>
                  <a:srgbClr val="FFFFFF"/>
                </a:solidFill>
              </a:defRPr>
            </a:lvl2pPr>
            <a:lvl3pPr marL="914400" indent="0" algn="ctr">
              <a:defRPr sz="1800">
                <a:solidFill>
                  <a:srgbClr val="FFFFFF"/>
                </a:solidFill>
              </a:defRPr>
            </a:lvl3pPr>
            <a:lvl4pPr marL="1371600" indent="0" algn="ctr">
              <a:defRPr sz="1800">
                <a:solidFill>
                  <a:srgbClr val="FFFFFF"/>
                </a:solidFill>
              </a:defRPr>
            </a:lvl4pPr>
            <a:lvl5pPr marL="1828800" indent="0" algn="ctr">
              <a:defRPr sz="1800">
                <a:solidFill>
                  <a:srgbClr val="FFFFFF"/>
                </a:solidFill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2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948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30" name="Corpo livello un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226344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olo Testo"/>
          <p:cNvSpPr txBox="1">
            <a:spLocks noGrp="1"/>
          </p:cNvSpPr>
          <p:nvPr>
            <p:ph type="title"/>
          </p:nvPr>
        </p:nvSpPr>
        <p:spPr>
          <a:xfrm>
            <a:off x="603380" y="553616"/>
            <a:ext cx="8273141" cy="4008860"/>
          </a:xfrm>
          <a:prstGeom prst="rect">
            <a:avLst/>
          </a:prstGeom>
        </p:spPr>
        <p:txBody>
          <a:bodyPr/>
          <a:lstStyle>
            <a:lvl1pPr>
              <a:defRPr sz="5400" cap="all"/>
            </a:lvl1pPr>
          </a:lstStyle>
          <a:p>
            <a:r>
              <a:t>Titolo Testo</a:t>
            </a:r>
          </a:p>
        </p:txBody>
      </p:sp>
      <p:sp>
        <p:nvSpPr>
          <p:cNvPr id="39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03379" y="4589462"/>
            <a:ext cx="8273141" cy="138461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None/>
            </a:lvl1pPr>
            <a:lvl2pPr marL="457200" indent="0"/>
            <a:lvl3pPr marL="914400" indent="0"/>
            <a:lvl4pPr marL="1371600" indent="0"/>
            <a:lvl5pPr marL="1828800" indent="0"/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370068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olo Testo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741153" cy="1132259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48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612648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9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327946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olo Testo"/>
          <p:cNvSpPr txBox="1">
            <a:spLocks noGrp="1"/>
          </p:cNvSpPr>
          <p:nvPr>
            <p:ph type="title"/>
          </p:nvPr>
        </p:nvSpPr>
        <p:spPr>
          <a:xfrm>
            <a:off x="609600" y="547395"/>
            <a:ext cx="10745789" cy="1143294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5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09600" y="1685735"/>
            <a:ext cx="5157788" cy="55983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0000"/>
              </a:lnSpc>
              <a:buSzTx/>
              <a:buNone/>
              <a:defRPr b="1" cap="all"/>
            </a:lvl1pPr>
            <a:lvl2pPr marL="457200" indent="0">
              <a:lnSpc>
                <a:spcPct val="90000"/>
              </a:lnSpc>
              <a:defRPr b="1" cap="all"/>
            </a:lvl2pPr>
            <a:lvl3pPr marL="914400" indent="0">
              <a:lnSpc>
                <a:spcPct val="90000"/>
              </a:lnSpc>
              <a:defRPr b="1" cap="all"/>
            </a:lvl3pPr>
            <a:lvl4pPr marL="1371600" indent="0">
              <a:lnSpc>
                <a:spcPct val="90000"/>
              </a:lnSpc>
              <a:defRPr b="1" cap="all"/>
            </a:lvl4pPr>
            <a:lvl5pPr marL="1828800" indent="0">
              <a:lnSpc>
                <a:spcPct val="90000"/>
              </a:lnSpc>
              <a:defRPr b="1" cap="all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5735"/>
            <a:ext cx="5183188" cy="559835"/>
          </a:xfrm>
          <a:prstGeom prst="rect">
            <a:avLst/>
          </a:prstGeom>
        </p:spPr>
        <p:txBody>
          <a:bodyPr anchor="b"/>
          <a:lstStyle/>
          <a:p>
            <a:pPr marL="0" indent="0">
              <a:lnSpc>
                <a:spcPct val="90000"/>
              </a:lnSpc>
              <a:buSzTx/>
              <a:buNone/>
              <a:defRPr b="1" cap="all"/>
            </a:pPr>
            <a:endParaRPr/>
          </a:p>
        </p:txBody>
      </p:sp>
      <p:sp>
        <p:nvSpPr>
          <p:cNvPr id="59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376931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6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9873126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567207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olo Testo"/>
          <p:cNvSpPr txBox="1">
            <a:spLocks noGrp="1"/>
          </p:cNvSpPr>
          <p:nvPr>
            <p:ph type="title"/>
          </p:nvPr>
        </p:nvSpPr>
        <p:spPr>
          <a:xfrm>
            <a:off x="597160" y="553616"/>
            <a:ext cx="3595635" cy="175750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Titolo Testo</a:t>
            </a:r>
          </a:p>
        </p:txBody>
      </p:sp>
      <p:sp>
        <p:nvSpPr>
          <p:cNvPr id="82" name="Corpo livello uno…"/>
          <p:cNvSpPr txBox="1">
            <a:spLocks noGrp="1"/>
          </p:cNvSpPr>
          <p:nvPr>
            <p:ph type="body" idx="1"/>
          </p:nvPr>
        </p:nvSpPr>
        <p:spPr>
          <a:xfrm>
            <a:off x="5134707" y="553616"/>
            <a:ext cx="6279743" cy="54864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495300" indent="-266700">
              <a:defRPr sz="2800"/>
            </a:lvl2pPr>
            <a:lvl3pPr marL="777239" indent="-320039">
              <a:defRPr sz="2800"/>
            </a:lvl3pPr>
            <a:lvl4pPr marL="1041400" indent="-355600">
              <a:defRPr sz="2800"/>
            </a:lvl4pPr>
            <a:lvl5pPr marL="1270000" indent="-355600">
              <a:defRPr sz="28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597160" y="2311120"/>
            <a:ext cx="3595635" cy="372889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/>
            </a:pPr>
            <a:endParaRPr/>
          </a:p>
        </p:txBody>
      </p:sp>
      <p:sp>
        <p:nvSpPr>
          <p:cNvPr id="8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77491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olo Testo"/>
          <p:cNvSpPr txBox="1">
            <a:spLocks noGrp="1"/>
          </p:cNvSpPr>
          <p:nvPr>
            <p:ph type="title"/>
          </p:nvPr>
        </p:nvSpPr>
        <p:spPr>
          <a:xfrm>
            <a:off x="594359" y="557783"/>
            <a:ext cx="3595636" cy="221231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Titolo Testo</a:t>
            </a:r>
          </a:p>
        </p:txBody>
      </p:sp>
      <p:sp>
        <p:nvSpPr>
          <p:cNvPr id="92" name="Picture Placeholder 2"/>
          <p:cNvSpPr>
            <a:spLocks noGrp="1"/>
          </p:cNvSpPr>
          <p:nvPr>
            <p:ph type="pic" idx="21"/>
          </p:nvPr>
        </p:nvSpPr>
        <p:spPr>
          <a:xfrm>
            <a:off x="5063318" y="657103"/>
            <a:ext cx="6483689" cy="55559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3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09601" y="2826136"/>
            <a:ext cx="3585587" cy="343464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None/>
              <a:defRPr sz="1600"/>
            </a:lvl1pPr>
            <a:lvl2pPr marL="457200" indent="0">
              <a:defRPr sz="1600"/>
            </a:lvl2pPr>
            <a:lvl3pPr marL="914400" indent="0">
              <a:defRPr sz="1600"/>
            </a:lvl3pPr>
            <a:lvl4pPr marL="1371600" indent="0">
              <a:defRPr sz="1600"/>
            </a:lvl4pPr>
            <a:lvl5pPr marL="1828800" indent="0">
              <a:defRPr sz="16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083884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3F29006-455C-ECEF-5B18-5CE8FDC8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A15178-5F14-4A9A-7DB3-C464D9A74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AC343E-E328-6B02-119E-FC843B065B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E230F-0589-480F-9847-E78304D1B935}" type="datetimeFigureOut">
              <a:rPr lang="it-IT" smtClean="0"/>
              <a:t>26/06/2026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ACA263-F39C-58B7-68E9-3558B18C1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28F2BE-1CD7-1BC7-7D8E-771633439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02389-F2BA-45D5-879A-43AC881AD5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1441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Titolo Testo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/>
          </p:nvPr>
        </p:nvSpPr>
        <p:spPr>
          <a:xfrm>
            <a:off x="612647" y="1715531"/>
            <a:ext cx="10653580" cy="4593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692932" y="6519994"/>
            <a:ext cx="368438" cy="231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/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020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 typeface="Arial"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600" b="1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9pPr>
    </p:titleStyle>
    <p:bodyStyle>
      <a:lvl1pPr marL="228600" marR="0" indent="-2286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1pPr>
      <a:lvl2pPr marL="4826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2pPr>
      <a:lvl3pPr marL="742950" marR="0" indent="-28575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3pPr>
      <a:lvl4pPr marL="1012371" marR="0" indent="-326571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4pPr>
      <a:lvl5pPr marL="1295400" marR="0" indent="-381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5pPr>
      <a:lvl6pPr marL="25400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6pPr>
      <a:lvl7pPr marL="29972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7pPr>
      <a:lvl8pPr marL="34544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8pPr>
      <a:lvl9pPr marL="39116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Neue Haas Grotesk Text Pro"/>
          <a:ea typeface="Neue Haas Grotesk Text Pro"/>
          <a:cs typeface="Neue Haas Grotesk Text Pro"/>
          <a:sym typeface="Neue Haas Grotesk Tex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1pPr>
      <a:lvl2pPr marL="45720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2pPr>
      <a:lvl3pPr marL="91440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3pPr>
      <a:lvl4pPr marL="137160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4pPr>
      <a:lvl5pPr marL="182880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5pPr>
      <a:lvl6pPr marL="228600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6pPr>
      <a:lvl7pPr marL="274320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7pPr>
      <a:lvl8pPr marL="320040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8pPr>
      <a:lvl9pPr marL="365760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4A88415-6C60-5D96-469E-78455E271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Mobile &amp; Cloud 2026 – Homework 4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4EBA99-03FB-68E4-41C4-F5F0018E4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421682"/>
            <a:ext cx="529132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Fabio Giovanni </a:t>
            </a:r>
            <a:r>
              <a:rPr lang="en-US" sz="1800" dirty="0" err="1">
                <a:solidFill>
                  <a:schemeClr val="tx2"/>
                </a:solidFill>
              </a:rPr>
              <a:t>Tomasoni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dirty="0" err="1">
                <a:solidFill>
                  <a:schemeClr val="tx2"/>
                </a:solidFill>
              </a:rPr>
              <a:t>matricola</a:t>
            </a:r>
            <a:r>
              <a:rPr lang="en-US" sz="1800" dirty="0">
                <a:solidFill>
                  <a:schemeClr val="tx2"/>
                </a:solidFill>
              </a:rPr>
              <a:t> 1091999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Simone Gatti, </a:t>
            </a:r>
            <a:r>
              <a:rPr lang="en-US" sz="1800" dirty="0" err="1">
                <a:solidFill>
                  <a:schemeClr val="tx2"/>
                </a:solidFill>
              </a:rPr>
              <a:t>matricola</a:t>
            </a:r>
            <a:r>
              <a:rPr lang="en-US" sz="1800" dirty="0">
                <a:solidFill>
                  <a:schemeClr val="tx2"/>
                </a:solidFill>
              </a:rPr>
              <a:t> 1091998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Link GitHub:     https://github.com/fabiotomasoni/cloud_mobile_2026_ShorTED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Link Trello: https://trello.com/b/jYELzvvY/piattaforme-cloud-e-applicazioni-mobili-shorted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93C63409-52C1-B73C-F9CB-8D5ED463C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0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F0B68CA-FE53-9042-8D35-8E2A57D708CF}"/>
              </a:ext>
            </a:extLst>
          </p:cNvPr>
          <p:cNvSpPr/>
          <p:nvPr/>
        </p:nvSpPr>
        <p:spPr>
          <a:xfrm>
            <a:off x="3238500" y="2336800"/>
            <a:ext cx="5715000" cy="1905000"/>
          </a:xfrm>
          <a:prstGeom prst="roundRect">
            <a:avLst/>
          </a:prstGeom>
          <a:solidFill>
            <a:srgbClr val="DDEFF2"/>
          </a:solidFill>
          <a:ln w="12700" cap="flat">
            <a:solidFill>
              <a:srgbClr val="2EA4C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Neue Haas Grotesk Text Pro"/>
              <a:cs typeface="Neue Haas Grotesk Text Pro"/>
              <a:sym typeface="Neue Haas Grotesk Text Pro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40BB5DF-BDC3-0948-8E30-1B8B53C47521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E9EC7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Neue Haas Grotesk Text Pro"/>
              <a:cs typeface="Neue Haas Grotesk Text Pro"/>
              <a:sym typeface="Neue Haas Grotesk Text Pro"/>
            </a:endParaRPr>
          </a:p>
        </p:txBody>
      </p:sp>
      <p:sp>
        <p:nvSpPr>
          <p:cNvPr id="108" name="Titolo 1"/>
          <p:cNvSpPr txBox="1">
            <a:spLocks noGrp="1"/>
          </p:cNvSpPr>
          <p:nvPr>
            <p:ph type="title"/>
          </p:nvPr>
        </p:nvSpPr>
        <p:spPr>
          <a:xfrm>
            <a:off x="4191000" y="2794000"/>
            <a:ext cx="3810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4600" dirty="0" err="1">
                <a:solidFill>
                  <a:srgbClr val="12384F"/>
                </a:solidFill>
                <a:latin typeface="Arial"/>
                <a:cs typeface="Arial"/>
              </a:rPr>
              <a:t>MyTEDx</a:t>
            </a:r>
            <a:endParaRPr sz="4600" dirty="0">
              <a:solidFill>
                <a:srgbClr val="12384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A39323-CC2D-05BB-E5C8-A04C3DFF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MyTEDx</a:t>
            </a:r>
            <a:r>
              <a:rPr lang="it-IT" dirty="0"/>
              <a:t> – Nuova UI e Nuova Funzionalità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0B21003-6B10-8F9B-02BA-3FB99585AA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Abbiamo aggiunto la LF «</a:t>
            </a:r>
            <a:r>
              <a:rPr lang="it-IT" dirty="0" err="1"/>
              <a:t>Get_Watch_Next_By_ID</a:t>
            </a:r>
            <a:r>
              <a:rPr lang="it-IT" dirty="0"/>
              <a:t>»</a:t>
            </a:r>
          </a:p>
          <a:p>
            <a:r>
              <a:rPr lang="it-IT" dirty="0"/>
              <a:t>Migliorato l’UI rendendola più moderna e ordinata</a:t>
            </a:r>
          </a:p>
          <a:p>
            <a:r>
              <a:rPr lang="it-IT" dirty="0"/>
              <a:t>Ora l’applicazione è divisa in due sezioni: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Sezione per recuperare i talk in base ai tags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Sezione che suggerisce i </a:t>
            </a:r>
            <a:r>
              <a:rPr lang="it-IT" dirty="0" err="1"/>
              <a:t>watch</a:t>
            </a:r>
            <a:r>
              <a:rPr lang="it-IT" dirty="0"/>
              <a:t> </a:t>
            </a:r>
            <a:r>
              <a:rPr lang="it-IT" dirty="0" err="1"/>
              <a:t>next</a:t>
            </a:r>
            <a:r>
              <a:rPr lang="it-IT" dirty="0"/>
              <a:t> in base all’ID</a:t>
            </a:r>
          </a:p>
          <a:p>
            <a:pPr marL="514350" indent="-514350">
              <a:buFont typeface="+mj-lt"/>
              <a:buAutoNum type="arabicPeriod"/>
            </a:pPr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08751590-A7ED-D804-692B-55F68FD23B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Inserire screen home page in cui si vedono le due sezioni</a:t>
            </a:r>
          </a:p>
        </p:txBody>
      </p:sp>
    </p:spTree>
    <p:extLst>
      <p:ext uri="{BB962C8B-B14F-4D97-AF65-F5344CB8AC3E}">
        <p14:creationId xmlns:p14="http://schemas.microsoft.com/office/powerpoint/2010/main" val="90810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81AD2699-767B-9F59-B8F1-2FEFA6AF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MyTEDx</a:t>
            </a:r>
            <a:r>
              <a:rPr lang="it-IT" dirty="0"/>
              <a:t> – La nuova UI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4390BD87-B7AA-976C-14B4-3B3A1FD07D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Inserire screen funzione 1 (con tutti i video di un certo tag)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0B0C130-75DA-2E80-C079-475080DB2A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Inserire screen funzione 2 (con tutti i </a:t>
            </a:r>
            <a:r>
              <a:rPr lang="it-IT" dirty="0" err="1"/>
              <a:t>watch</a:t>
            </a:r>
            <a:r>
              <a:rPr lang="it-IT" dirty="0"/>
              <a:t> </a:t>
            </a:r>
            <a:r>
              <a:rPr lang="it-IT" dirty="0" err="1"/>
              <a:t>next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1709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3F99923-D132-CD45-9006-415475B54D91}"/>
              </a:ext>
            </a:extLst>
          </p:cNvPr>
          <p:cNvSpPr/>
          <p:nvPr/>
        </p:nvSpPr>
        <p:spPr>
          <a:xfrm>
            <a:off x="2984500" y="2222500"/>
            <a:ext cx="6223000" cy="2222500"/>
          </a:xfrm>
          <a:prstGeom prst="roundRect">
            <a:avLst/>
          </a:prstGeom>
          <a:solidFill>
            <a:srgbClr val="FFE6DF"/>
          </a:solidFill>
          <a:ln w="12700" cap="flat">
            <a:solidFill>
              <a:srgbClr val="F15A3B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Neue Haas Grotesk Text Pro"/>
              <a:cs typeface="Neue Haas Grotesk Text Pro"/>
              <a:sym typeface="Neue Haas Grotesk Text Pro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AE31068-36F3-BE48-9DE6-D34DB9FEDF54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F15A3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Neue Haas Grotesk Text Pro"/>
              <a:cs typeface="Neue Haas Grotesk Text Pro"/>
              <a:sym typeface="Neue Haas Grotesk Text Pro"/>
            </a:endParaRPr>
          </a:p>
        </p:txBody>
      </p:sp>
      <p:pic>
        <p:nvPicPr>
          <p:cNvPr id="134" name="filmato-incollato.png" descr="filmato-incollato.png"/>
          <p:cNvPicPr>
            <a:picLocks noChangeAspect="1"/>
          </p:cNvPicPr>
          <p:nvPr/>
        </p:nvPicPr>
        <p:blipFill>
          <a:blip r:embed="rId2"/>
          <a:srcRect t="40603" b="37178"/>
          <a:stretch>
            <a:fillRect/>
          </a:stretch>
        </p:blipFill>
        <p:spPr>
          <a:xfrm>
            <a:off x="3302000" y="2603500"/>
            <a:ext cx="5588000" cy="1244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20ECE-5D4F-BD6F-0C4A-220E4FEE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A7EEE3-E873-2E5B-D4F1-88CD0C66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ShorTED</a:t>
            </a:r>
            <a:r>
              <a:rPr lang="it-IT" dirty="0"/>
              <a:t> – La Nostra Idea – </a:t>
            </a:r>
            <a:r>
              <a:rPr lang="it-IT" dirty="0" err="1"/>
              <a:t>HomePage</a:t>
            </a:r>
            <a:r>
              <a:rPr lang="it-IT" dirty="0"/>
              <a:t>	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0132E29C-AC41-C230-EB9D-1B3ACDFE39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Nella Home Page vogliamo realizzare un mini-player che riproduca la parte di video più importante (3-10 sec.).</a:t>
            </a:r>
          </a:p>
          <a:p>
            <a:r>
              <a:rPr lang="it-IT" dirty="0"/>
              <a:t>L’utente oltre al video ha a disposizione una frase d’impatto che riassume il concetto del talk.</a:t>
            </a:r>
          </a:p>
          <a:p>
            <a:r>
              <a:rPr lang="it-IT" dirty="0"/>
              <a:t>Se l’utente è interessato al video, può visualizzare i suoi tags, pillole motivazionali estratte dal video e cliccare sul link per vedere l’intero talk.</a:t>
            </a:r>
          </a:p>
          <a:p>
            <a:endParaRPr lang="it-IT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DE0B025D-79C2-77A9-815C-E381388E45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Inserire immagine del FRAME della home page</a:t>
            </a:r>
          </a:p>
        </p:txBody>
      </p:sp>
    </p:spTree>
    <p:extLst>
      <p:ext uri="{BB962C8B-B14F-4D97-AF65-F5344CB8AC3E}">
        <p14:creationId xmlns:p14="http://schemas.microsoft.com/office/powerpoint/2010/main" val="272854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97BCA-27A0-8AA0-65E9-0259A813F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3C1307B-4324-86FB-3F2D-75576412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ShorTED</a:t>
            </a:r>
            <a:r>
              <a:rPr lang="it-IT" dirty="0"/>
              <a:t> – La nostra idea - Profilo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FF29109-E8C6-5631-1011-E8F003656E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Abbiamo pensato alla gestione del profilo personale</a:t>
            </a:r>
          </a:p>
          <a:p>
            <a:r>
              <a:rPr lang="it-IT" dirty="0"/>
              <a:t>Un utente all’avvio dell’app è costretto a selezionare almeno 3 tags di interesse per popolare il feed</a:t>
            </a:r>
          </a:p>
          <a:p>
            <a:r>
              <a:rPr lang="it-IT" dirty="0"/>
              <a:t>L’utente potrà visualizzare la propria pagina personale, vedere i contenuti salvati ed eventualmente modificare i tags preferiti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FC6B57A-F51E-BC55-5638-70C8FE774A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Inserire FRAME del profilo</a:t>
            </a:r>
          </a:p>
        </p:txBody>
      </p:sp>
    </p:spTree>
    <p:extLst>
      <p:ext uri="{BB962C8B-B14F-4D97-AF65-F5344CB8AC3E}">
        <p14:creationId xmlns:p14="http://schemas.microsoft.com/office/powerpoint/2010/main" val="294228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10ADA-44DB-BAD9-7287-4C6489B0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9E8ED6-E9DB-0B77-3C8A-4BFA31BDD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ShorTED</a:t>
            </a:r>
            <a:r>
              <a:rPr lang="it-IT" dirty="0"/>
              <a:t>: Home Page – Frame Vs UI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43D8423A-1B46-2DFE-E55E-91ED9C7F76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O si fa un confronto Frame vs UI effettiva</a:t>
            </a:r>
          </a:p>
          <a:p>
            <a:endParaRPr lang="it-IT" dirty="0"/>
          </a:p>
          <a:p>
            <a:r>
              <a:rPr lang="it-IT" dirty="0"/>
              <a:t>Se no 2 screen/1 screen e 1 video della home page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C60577EA-9ED6-FEE9-A461-A0469250FC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12683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AB10C-346E-4F8E-5870-2EFABCFE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0E2730-224F-BFB5-D31E-BB0E9FA7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ShorTED</a:t>
            </a:r>
            <a:r>
              <a:rPr lang="it-IT" dirty="0"/>
              <a:t>: Profilo – Frame Vs UI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BFCAAF75-9EBB-CE4C-77F3-C708FE5097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O si fa un confronto Frame vs UI effettiva</a:t>
            </a:r>
          </a:p>
          <a:p>
            <a:endParaRPr lang="it-IT" dirty="0"/>
          </a:p>
          <a:p>
            <a:r>
              <a:rPr lang="it-IT" dirty="0"/>
              <a:t>Se no 2 screen del profilo con funzionalità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28A8EC5B-0670-E9B3-7732-3BDA6145F7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147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1FE79-3ED4-CED6-6D11-AE829463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9996226-0258-389F-4C03-7B605336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Considerazioni Finali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626BB57-2912-A87A-E571-7C5A82AB1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Criticità Tecniche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F32B3B6-1D89-BAC1-5068-43C9C1C831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 err="1"/>
              <a:t>MongoDB</a:t>
            </a:r>
            <a:r>
              <a:rPr lang="it-IT" dirty="0"/>
              <a:t> un po’ lento (chiamata API dura 4-5 secondi)</a:t>
            </a:r>
          </a:p>
          <a:p>
            <a:r>
              <a:rPr lang="it-IT" dirty="0"/>
              <a:t>Vincoli referenziali da sistemare per i Watch Next</a:t>
            </a:r>
          </a:p>
          <a:p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408C98A-8422-251E-7A23-AC7F64039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/>
              <a:t>Possibili Implementazioni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C94A1BA5-3530-D8E1-093D-45D25BF5286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it-IT" dirty="0"/>
              <a:t>Salvataggio degli account in un DB (o su </a:t>
            </a:r>
            <a:r>
              <a:rPr lang="it-IT" dirty="0" err="1"/>
              <a:t>MongoDB</a:t>
            </a:r>
            <a:r>
              <a:rPr lang="it-IT" dirty="0"/>
              <a:t>)</a:t>
            </a:r>
          </a:p>
          <a:p>
            <a:r>
              <a:rPr lang="it-IT" dirty="0"/>
              <a:t>Autenticazione tramite AWS Cognito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4848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VanillaVTI">
  <a:themeElements>
    <a:clrScheme name="VanillaVTI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0000FF"/>
      </a:hlink>
      <a:folHlink>
        <a:srgbClr val="FF00FF"/>
      </a:folHlink>
    </a:clrScheme>
    <a:fontScheme name="VanillaVTI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 typeface="Arial"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Neue Haas Grotesk Text Pro"/>
            <a:ea typeface="Neue Haas Grotesk Text Pro"/>
            <a:cs typeface="Neue Haas Grotesk Text Pro"/>
            <a:sym typeface="Neue Haas Grotesk Tex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 typeface="Arial"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Neue Haas Grotesk Text Pro"/>
            <a:ea typeface="Neue Haas Grotesk Text Pro"/>
            <a:cs typeface="Neue Haas Grotesk Text Pro"/>
            <a:sym typeface="Neue Haas Grotesk Tex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373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Helvetica</vt:lpstr>
      <vt:lpstr>Neue Haas Grotesk Text Pro</vt:lpstr>
      <vt:lpstr>Tema di Office</vt:lpstr>
      <vt:lpstr>VanillaVTI</vt:lpstr>
      <vt:lpstr>Mobile &amp; Cloud 2026 – Homework 4</vt:lpstr>
      <vt:lpstr>MyTEDx</vt:lpstr>
      <vt:lpstr>MyTEDx – Nuova UI e Nuova Funzionalità</vt:lpstr>
      <vt:lpstr>MyTEDx – La nuova UI</vt:lpstr>
      <vt:lpstr>Presentazione standard di PowerPoint</vt:lpstr>
      <vt:lpstr>ShorTED – La Nostra Idea – HomePage </vt:lpstr>
      <vt:lpstr>ShorTED – La nostra idea - Profilo</vt:lpstr>
      <vt:lpstr>ShorTED: Home Page – Frame Vs UI</vt:lpstr>
      <vt:lpstr>ShorTED: Profilo – Frame Vs UI</vt:lpstr>
      <vt:lpstr>Considerazioni Finali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GIOVANNI TOMASONI</dc:creator>
  <cp:lastModifiedBy>FABIO GIOVANNI TOMASONI</cp:lastModifiedBy>
  <cp:revision>1</cp:revision>
  <dcterms:created xsi:type="dcterms:W3CDTF">2026-06-26T16:26:46Z</dcterms:created>
  <dcterms:modified xsi:type="dcterms:W3CDTF">2026-06-26T17:10:37Z</dcterms:modified>
</cp:coreProperties>
</file>